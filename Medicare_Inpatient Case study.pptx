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9" r:id="rId8"/>
    <p:sldId id="268" r:id="rId9"/>
    <p:sldId id="264" r:id="rId10"/>
    <p:sldId id="265" r:id="rId11"/>
    <p:sldId id="270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D5C"/>
    <a:srgbClr val="296958"/>
    <a:srgbClr val="213F71"/>
    <a:srgbClr val="29527F"/>
    <a:srgbClr val="37576D"/>
    <a:srgbClr val="064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08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Charges: What We Found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drives hospital billing, and how it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to what Medicare actually pays.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Inpatient Hospitals by Provider &amp; Service  •  146,427 hospital-diagnosis records  •  2,945 hospitals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97CB1-1A1D-7A2A-C3F0-E538A1523A51}"/>
              </a:ext>
            </a:extLst>
          </p:cNvPr>
          <p:cNvSpPr txBox="1"/>
          <p:nvPr/>
        </p:nvSpPr>
        <p:spPr>
          <a:xfrm>
            <a:off x="653143" y="2519269"/>
            <a:ext cx="84931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E58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Inpatient Hospitals</a:t>
            </a:r>
            <a:endParaRPr lang="en-US" sz="4000" dirty="0">
              <a:solidFill>
                <a:srgbClr val="E58C0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39B58-FDEE-F8AF-7089-86229AB51B4A}"/>
              </a:ext>
            </a:extLst>
          </p:cNvPr>
          <p:cNvSpPr txBox="1"/>
          <p:nvPr/>
        </p:nvSpPr>
        <p:spPr>
          <a:xfrm>
            <a:off x="822960" y="520582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By : Nandita Sharma</a:t>
            </a:r>
          </a:p>
          <a:p>
            <a:r>
              <a:rPr lang="en-IN" sz="1800" b="1" dirty="0" err="1">
                <a:solidFill>
                  <a:schemeClr val="bg1"/>
                </a:solidFill>
              </a:rPr>
              <a:t>Github</a:t>
            </a:r>
            <a:r>
              <a:rPr lang="en-IN" sz="1800" b="1" dirty="0">
                <a:solidFill>
                  <a:schemeClr val="bg1"/>
                </a:solidFill>
              </a:rPr>
              <a:t>: https://github.com/nandita96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 We Set Out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099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price for the same diagnosis vary a lot between hospitals?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7099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surgery cost different amounts in different states?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2186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bigger hospitals charge less, the way bulk buying usually works?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291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32186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hospital bills more, does it actually get paid more?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274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procedures show the biggest gap between billed and paid?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4800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7274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actually decides the price, more than anything else?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Hospital Charge Analysis  |  2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A5DAA-00DC-0702-EA44-1EF535CAFC09}"/>
              </a:ext>
            </a:extLst>
          </p:cNvPr>
          <p:cNvSpPr txBox="1"/>
          <p:nvPr/>
        </p:nvSpPr>
        <p:spPr>
          <a:xfrm>
            <a:off x="1763486" y="5641848"/>
            <a:ext cx="87038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Executive Summary: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 Key findings are summarised at the end of the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50132-E357-A5C2-2956-A5D20A18F720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Gap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AB74199-EE6D-048F-BDBD-B8E5B701E8BD}"/>
              </a:ext>
            </a:extLst>
          </p:cNvPr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hospital stay in the dataset, here's the typical story.</a:t>
            </a:r>
            <a:endParaRPr lang="en-US" sz="1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AF920AF-C4C1-B348-6C4B-290E211492F4}"/>
              </a:ext>
            </a:extLst>
          </p:cNvPr>
          <p:cNvSpPr/>
          <p:nvPr/>
        </p:nvSpPr>
        <p:spPr>
          <a:xfrm>
            <a:off x="640080" y="169164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D93C91D-CA72-E4EF-B73B-C2F824E31D1B}"/>
              </a:ext>
            </a:extLst>
          </p:cNvPr>
          <p:cNvSpPr/>
          <p:nvPr/>
        </p:nvSpPr>
        <p:spPr>
          <a:xfrm>
            <a:off x="640080" y="20116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5.5x</a:t>
            </a:r>
            <a:endParaRPr lang="en-US" sz="8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3975B5C-C0D8-39D2-5186-452965B085AC}"/>
              </a:ext>
            </a:extLst>
          </p:cNvPr>
          <p:cNvSpPr/>
          <p:nvPr/>
        </p:nvSpPr>
        <p:spPr>
          <a:xfrm>
            <a:off x="640080" y="3429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MARKUP</a:t>
            </a:r>
            <a:endParaRPr lang="en-US" sz="1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7EBD3FA-DDA9-43C4-B097-CB9B3F693AD5}"/>
              </a:ext>
            </a:extLst>
          </p:cNvPr>
          <p:cNvSpPr/>
          <p:nvPr/>
        </p:nvSpPr>
        <p:spPr>
          <a:xfrm>
            <a:off x="1005840" y="39776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bill about five and a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times what Medicare pays.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eats up roughly 79%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original bill.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29F131-ABBE-3484-DAC2-802AF3D7E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687" y="1885812"/>
            <a:ext cx="6378679" cy="34233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6BFAC9-3A20-147F-1CBE-A354C151267C}"/>
              </a:ext>
            </a:extLst>
          </p:cNvPr>
          <p:cNvSpPr txBox="1"/>
          <p:nvPr/>
        </p:nvSpPr>
        <p:spPr>
          <a:xfrm>
            <a:off x="8348123" y="5239529"/>
            <a:ext cx="992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Submitted Charge</a:t>
            </a:r>
            <a:endParaRPr lang="en-IN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AC2D8-F214-F93F-4080-5E7976642F1B}"/>
              </a:ext>
            </a:extLst>
          </p:cNvPr>
          <p:cNvSpPr txBox="1"/>
          <p:nvPr/>
        </p:nvSpPr>
        <p:spPr>
          <a:xfrm>
            <a:off x="9113967" y="5239529"/>
            <a:ext cx="992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Medicare Payment 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56717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</a:rPr>
              <a:t>Which</a:t>
            </a:r>
            <a:r>
              <a:rPr lang="en-IN" sz="25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</a:rPr>
              <a:t> services'(DRG) show the highest cost variation between providers?</a:t>
            </a:r>
            <a:r>
              <a:rPr lang="en-US" sz="25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</a:rPr>
              <a:t> 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5715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shows a relative price-inconsistency score (higher = hospitals disagree more on price for that diagnosis).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Hospital Charge Analysis  |  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7E6423-4CFF-DA53-95FF-97EAA47DF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5" y="1837944"/>
            <a:ext cx="10596367" cy="3487870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BF7840C8-6380-5BD1-27CC-F737CE7E74AA}"/>
              </a:ext>
            </a:extLst>
          </p:cNvPr>
          <p:cNvSpPr/>
          <p:nvPr/>
        </p:nvSpPr>
        <p:spPr>
          <a:xfrm>
            <a:off x="10961604" y="228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DRG, Different Region, Different Price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picked one very common, serious diagnosis </a:t>
            </a:r>
            <a:r>
              <a:rPr lang="en-US" sz="1500" b="1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severe sepsis (a life-threatening infection) without &gt;96 hours W </a:t>
            </a:r>
            <a:r>
              <a:rPr lang="en-US" sz="15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compared the average charge state by state.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58200" y="2377440"/>
            <a:ext cx="3200400" cy="3749040"/>
          </a:xfrm>
          <a:prstGeom prst="roundRect">
            <a:avLst>
              <a:gd name="adj" fmla="val 3429"/>
            </a:avLst>
          </a:prstGeom>
          <a:solidFill>
            <a:srgbClr val="013A40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6.2x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778240" y="3611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the highest- and lowest-charging state — for the exact same diagnosis.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F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Nevada: $173,926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9F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Maryland: $27,908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Hospital Charge Analysis  |  4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2B8173-9D0A-7270-2AC4-DB3ED378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28" y="2697480"/>
            <a:ext cx="7618395" cy="2454708"/>
          </a:xfrm>
          <a:prstGeom prst="rect">
            <a:avLst/>
          </a:prstGeom>
        </p:spPr>
      </p:pic>
      <p:sp>
        <p:nvSpPr>
          <p:cNvPr id="16" name="Shape 2">
            <a:extLst>
              <a:ext uri="{FF2B5EF4-FFF2-40B4-BE49-F238E27FC236}">
                <a16:creationId xmlns:a16="http://schemas.microsoft.com/office/drawing/2014/main" id="{066E5E0E-2CF0-0E21-B9AB-09DA2553C255}"/>
              </a:ext>
            </a:extLst>
          </p:cNvPr>
          <p:cNvSpPr/>
          <p:nvPr/>
        </p:nvSpPr>
        <p:spPr>
          <a:xfrm>
            <a:off x="11338560" y="4800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"Buying in Bulk" Doesn’t Apply to Hospitals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expect a hospital that treats way more patients to charge less per patient, like buying in bulk. The data shows the opposite.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Hospital Charge Analysis  |  5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C72FA3-4294-0BCF-A546-11AEE8FE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" y="2192344"/>
            <a:ext cx="8112253" cy="4386087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54E0EBDA-ECE8-570F-D20E-F2A192C960BF}"/>
              </a:ext>
            </a:extLst>
          </p:cNvPr>
          <p:cNvSpPr/>
          <p:nvPr/>
        </p:nvSpPr>
        <p:spPr>
          <a:xfrm>
            <a:off x="8767976" y="2286000"/>
            <a:ext cx="3200400" cy="416052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82F203-3E7B-B110-F1B0-F3C6E3A0D0AB}"/>
              </a:ext>
            </a:extLst>
          </p:cNvPr>
          <p:cNvSpPr/>
          <p:nvPr/>
        </p:nvSpPr>
        <p:spPr>
          <a:xfrm>
            <a:off x="8996576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3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8C6D8DE-ABB9-1FA1-2F8C-6D5127E71951}"/>
              </a:ext>
            </a:extLst>
          </p:cNvPr>
          <p:cNvSpPr/>
          <p:nvPr/>
        </p:nvSpPr>
        <p:spPr>
          <a:xfrm>
            <a:off x="8996576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diagnoses treated by the busiest hospitals, on average — vs. just 5 for the quietest ones.</a:t>
            </a:r>
            <a:endParaRPr lang="en-US" sz="13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51ABA7A-BEC2-9F98-3E17-04E42BE23AC2}"/>
              </a:ext>
            </a:extLst>
          </p:cNvPr>
          <p:cNvSpPr/>
          <p:nvPr/>
        </p:nvSpPr>
        <p:spPr>
          <a:xfrm>
            <a:off x="8996576" y="452628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hospitals bill more, not less. Partly that's because they handle a much wider, more complex case mix — big academic centers, not just "more of the same."</a:t>
            </a:r>
            <a:endParaRPr lang="en-US" sz="125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92F84048-C021-F1B0-0E6C-F07C5769E17D}"/>
              </a:ext>
            </a:extLst>
          </p:cNvPr>
          <p:cNvSpPr/>
          <p:nvPr/>
        </p:nvSpPr>
        <p:spPr>
          <a:xfrm>
            <a:off x="9916575" y="267179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4DF17E56-1597-FF5A-622E-D06C36FA0318}"/>
              </a:ext>
            </a:extLst>
          </p:cNvPr>
          <p:cNvSpPr/>
          <p:nvPr/>
        </p:nvSpPr>
        <p:spPr>
          <a:xfrm>
            <a:off x="10526983" y="267179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3FDD8-E90A-969B-3426-107221119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930"/>
            <a:ext cx="6958455" cy="2702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480823-D8E0-404C-DB3F-3F42A2E7C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932" y="1180743"/>
            <a:ext cx="6407020" cy="310281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49D6B89-8EAB-B388-9887-68BEB7DDBEE1}"/>
              </a:ext>
            </a:extLst>
          </p:cNvPr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</a:rPr>
              <a:t>Outlier Understanding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F012B-AFE7-CAC1-FB72-DA263A6EF742}"/>
              </a:ext>
            </a:extLst>
          </p:cNvPr>
          <p:cNvSpPr txBox="1"/>
          <p:nvPr/>
        </p:nvSpPr>
        <p:spPr>
          <a:xfrm>
            <a:off x="1783574" y="4751068"/>
            <a:ext cx="265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Compressed box near zero, classic right-skew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67A23-99D6-D831-0AF3-D340763A1DFF}"/>
              </a:ext>
            </a:extLst>
          </p:cNvPr>
          <p:cNvSpPr txBox="1"/>
          <p:nvPr/>
        </p:nvSpPr>
        <p:spPr>
          <a:xfrm>
            <a:off x="7053693" y="4767277"/>
            <a:ext cx="4791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Applying log1p to each column pulls the distributions much closer to a bell shape, which is why the log-transformed versions (</a:t>
            </a:r>
            <a:r>
              <a:rPr lang="en-IN" dirty="0" err="1"/>
              <a:t>log_Avg_Submtd_Cvrd_Chrg</a:t>
            </a:r>
            <a:r>
              <a:rPr lang="en-IN" dirty="0"/>
              <a:t>, etc.) are used later as model inputs instead of the raw dollar values.</a:t>
            </a:r>
          </a:p>
        </p:txBody>
      </p:sp>
    </p:spTree>
    <p:extLst>
      <p:ext uri="{BB962C8B-B14F-4D97-AF65-F5344CB8AC3E}">
        <p14:creationId xmlns:p14="http://schemas.microsoft.com/office/powerpoint/2010/main" val="383930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D682CE6-2DA7-49CC-B448-B5764396A432}"/>
              </a:ext>
            </a:extLst>
          </p:cNvPr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Gaps Are Created Equal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D54957E-0DD4-3676-FAEE-96C78245E3F0}"/>
              </a:ext>
            </a:extLst>
          </p:cNvPr>
          <p:cNvSpPr/>
          <p:nvPr/>
        </p:nvSpPr>
        <p:spPr>
          <a:xfrm>
            <a:off x="640080" y="1051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DRGs with the biggest markup aren't the ones that cost Medicare the most money.</a:t>
            </a:r>
            <a:endParaRPr lang="en-US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8249DD9-A00A-4CB2-3097-A0F04D0FCCC9}"/>
              </a:ext>
            </a:extLst>
          </p:cNvPr>
          <p:cNvSpPr/>
          <p:nvPr/>
        </p:nvSpPr>
        <p:spPr>
          <a:xfrm>
            <a:off x="64008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6B7BC00-BE33-BDFF-376C-A33991AC7CF6}"/>
              </a:ext>
            </a:extLst>
          </p:cNvPr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MARKUP</a:t>
            </a:r>
            <a:endParaRPr lang="en-US" sz="13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E3E8436-480E-2B38-3BD4-10EEEE0835A9}"/>
              </a:ext>
            </a:extLst>
          </p:cNvPr>
          <p:cNvSpPr/>
          <p:nvPr/>
        </p:nvSpPr>
        <p:spPr>
          <a:xfrm>
            <a:off x="91440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Biopsy / Excision</a:t>
            </a:r>
            <a:endParaRPr lang="en-US" sz="14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146D1FE-759F-0B5A-6EB7-982226DB994E}"/>
              </a:ext>
            </a:extLst>
          </p:cNvPr>
          <p:cNvSpPr/>
          <p:nvPr/>
        </p:nvSpPr>
        <p:spPr>
          <a:xfrm>
            <a:off x="438912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16.5x</a:t>
            </a:r>
            <a:endParaRPr lang="en-US" sz="2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AC2536D-29BA-7419-BA36-3F004F302BAF}"/>
              </a:ext>
            </a:extLst>
          </p:cNvPr>
          <p:cNvSpPr/>
          <p:nvPr/>
        </p:nvSpPr>
        <p:spPr>
          <a:xfrm>
            <a:off x="914400" y="3044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Lymphoma, no complication</a:t>
            </a:r>
            <a:endParaRPr lang="en-US" sz="14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0963CCB3-627B-B961-7399-A9A77D30F237}"/>
              </a:ext>
            </a:extLst>
          </p:cNvPr>
          <p:cNvSpPr/>
          <p:nvPr/>
        </p:nvSpPr>
        <p:spPr>
          <a:xfrm>
            <a:off x="4389120" y="3044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14.8x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012DE44-4BE1-8F3C-5EDC-FFAC96112E33}"/>
              </a:ext>
            </a:extLst>
          </p:cNvPr>
          <p:cNvSpPr/>
          <p:nvPr/>
        </p:nvSpPr>
        <p:spPr>
          <a:xfrm>
            <a:off x="914400" y="36667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4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66471DB-00DB-50B2-D162-6CD2180054F1}"/>
              </a:ext>
            </a:extLst>
          </p:cNvPr>
          <p:cNvSpPr/>
          <p:nvPr/>
        </p:nvSpPr>
        <p:spPr>
          <a:xfrm>
            <a:off x="4389120" y="36667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13.4x</a:t>
            </a:r>
            <a:endParaRPr lang="en-US" sz="20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159AB52-1558-A630-08B0-000C8AEBB9EF}"/>
              </a:ext>
            </a:extLst>
          </p:cNvPr>
          <p:cNvSpPr/>
          <p:nvPr/>
        </p:nvSpPr>
        <p:spPr>
          <a:xfrm>
            <a:off x="914400" y="4663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billed many times over what Medicare allows — but they're relatively uncommon procedures.</a:t>
            </a:r>
            <a:endParaRPr lang="en-US" sz="13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43CB0334-7FDC-A5E6-B8EC-400D04FDE7A0}"/>
              </a:ext>
            </a:extLst>
          </p:cNvPr>
          <p:cNvSpPr/>
          <p:nvPr/>
        </p:nvSpPr>
        <p:spPr>
          <a:xfrm>
            <a:off x="6217920" y="17373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6CD707A-7CC7-3FBA-83DD-F776137B1B33}"/>
              </a:ext>
            </a:extLst>
          </p:cNvPr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NATIONAL SPEND</a:t>
            </a:r>
            <a:endParaRPr lang="en-US" sz="13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401F09F-F9C7-BB92-F9D4-4686D59D5B54}"/>
              </a:ext>
            </a:extLst>
          </p:cNvPr>
          <p:cNvSpPr/>
          <p:nvPr/>
        </p:nvSpPr>
        <p:spPr>
          <a:xfrm>
            <a:off x="649224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$8.46B</a:t>
            </a:r>
            <a:endParaRPr lang="en-US" sz="48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581A1A70-02D6-40B1-80E4-9B4ED322B6CF}"/>
              </a:ext>
            </a:extLst>
          </p:cNvPr>
          <p:cNvSpPr/>
          <p:nvPr/>
        </p:nvSpPr>
        <p:spPr>
          <a:xfrm>
            <a:off x="6492240" y="34290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out for Septicemia / Severe Sepsis with major complications — alone.</a:t>
            </a:r>
            <a:endParaRPr lang="en-US" sz="15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0BE5DEC1-C423-3081-7C91-80AC27CF055D}"/>
              </a:ext>
            </a:extLst>
          </p:cNvPr>
          <p:cNvSpPr/>
          <p:nvPr/>
        </p:nvSpPr>
        <p:spPr>
          <a:xfrm>
            <a:off x="6492240" y="4251960"/>
            <a:ext cx="4754880" cy="0"/>
          </a:xfrm>
          <a:prstGeom prst="line">
            <a:avLst/>
          </a:prstGeom>
          <a:noFill/>
          <a:ln w="12700">
            <a:solidFill>
              <a:srgbClr val="3A4A80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A35AD97A-055E-6FDC-2E4B-12FD78291EA3}"/>
              </a:ext>
            </a:extLst>
          </p:cNvPr>
          <p:cNvSpPr/>
          <p:nvPr/>
        </p:nvSpPr>
        <p:spPr>
          <a:xfrm>
            <a:off x="6492240" y="4434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2.7x more than the next-highest DRG. Not the biggest markup — just the most common, expensive diagnosis in America.</a:t>
            </a:r>
            <a:endParaRPr lang="en-US" sz="13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2F360807-4721-D9E0-1145-9E2DB384B3ED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86578286-68DA-DD61-FDB1-7EB233FC738D}"/>
              </a:ext>
            </a:extLst>
          </p:cNvPr>
          <p:cNvSpPr/>
          <p:nvPr/>
        </p:nvSpPr>
        <p:spPr>
          <a:xfrm>
            <a:off x="10721340" y="274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742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Factors Decide the Cost?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price difference is explained by just one thing: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case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diagnosis / procedure itself)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hospital type, region, severity, size — explains a further ~25%. The rest comes down to individual hospital pricing choices we can't fully predict.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Hospital Charge Analysis  |  9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DC748C-2BE6-BFAB-66DF-009ABB8F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898" y="1712232"/>
            <a:ext cx="6537960" cy="4432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9CC4DC-81D0-4AB4-07E8-A95342957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612962"/>
              </p:ext>
            </p:extLst>
          </p:nvPr>
        </p:nvGraphicFramePr>
        <p:xfrm>
          <a:off x="242596" y="354563"/>
          <a:ext cx="11803224" cy="6610389"/>
        </p:xfrm>
        <a:graphic>
          <a:graphicData uri="http://schemas.openxmlformats.org/drawingml/2006/table">
            <a:tbl>
              <a:tblPr/>
              <a:tblGrid>
                <a:gridCol w="3105939">
                  <a:extLst>
                    <a:ext uri="{9D8B030D-6E8A-4147-A177-3AD203B41FA5}">
                      <a16:colId xmlns:a16="http://schemas.microsoft.com/office/drawing/2014/main" val="20770571"/>
                    </a:ext>
                  </a:extLst>
                </a:gridCol>
                <a:gridCol w="8697285">
                  <a:extLst>
                    <a:ext uri="{9D8B030D-6E8A-4147-A177-3AD203B41FA5}">
                      <a16:colId xmlns:a16="http://schemas.microsoft.com/office/drawing/2014/main" val="3743141386"/>
                    </a:ext>
                  </a:extLst>
                </a:gridCol>
              </a:tblGrid>
              <a:tr h="296798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Area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Key finding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339181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Data quality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146,142 clean provider–DRG records after removing suppressed/missing rows and a handful of illogical rows (payment &gt; charge). No duplicates.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4228"/>
                  </a:ext>
                </a:extLst>
              </a:tr>
              <a:tr h="336538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Headline gap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Hospitals bill a 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median 5.5x (mean 6.35x)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 what Medicare actually pays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080313"/>
                  </a:ext>
                </a:extLst>
              </a:tr>
              <a:tr h="336538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Outlier providers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201 hospitals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 have ≥15% of their DRGs flagged as peer-group cost outliers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545060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Cost variation by DRG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Some DRGs (e.g., cardiac congenital/valvular disorders, interstitial lung disease) show CV &gt; 1.0 — providers disagree wildly on price for the </a:t>
                      </a:r>
                      <a:r>
                        <a:rPr lang="en-IN" sz="1400" i="1">
                          <a:solidFill>
                            <a:schemeClr val="bg1"/>
                          </a:solidFill>
                          <a:effectLst/>
                        </a:rPr>
                        <a:t>same</a:t>
                      </a: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 diagnosis; others are highly consistent (CV ≈ 0.4).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536435"/>
                  </a:ext>
                </a:extLst>
              </a:tr>
              <a:tr h="728751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Regional variation (fixed DRG)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For the single most common DRG, the highest-billing state charges 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6.2x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 more than the lowest, while Medicare's payment barely moves (&lt;2x range) — Maryland's uniquely low markup (~1.2x) reflects its state-regulated all-payer rate system.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502745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Volume / economies of scale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Higher-volume hospitals bill </a:t>
                      </a:r>
                      <a:r>
                        <a:rPr lang="en-IN" sz="1400" i="1">
                          <a:solidFill>
                            <a:schemeClr val="bg1"/>
                          </a:solidFill>
                          <a:effectLst/>
                        </a:rPr>
                        <a:t>more</a:t>
                      </a: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, not less, per case — no evidence of economies of scale; largely confounded by case-mix breadth (high-volume hospitals treat far more distinct DRGs).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143429"/>
                  </a:ext>
                </a:extLst>
              </a:tr>
              <a:tr h="296798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Charge–payment relationship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r = 0.81 between charge and Medicare payment — real but far from 1:1.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1422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Predictors of cost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DRG identity alone explains 58% of billed-amount variance; once that's controlled for, hospital case-mix breadth and Region are the strongest remaining predictors of pricing behavior (Random Forest R²=0.25).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873407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Highest-markup DRGs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Breast biopsy/excision procedures (16.5x), lymphoma without CC/MCC (14.8x), kidney transplant (13.4x) — not simply the most complex/expensive procedures.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916125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Highest-spend DRGs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Septicemia/severe sepsis with MCC alone accounts for </a:t>
                      </a: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$8.46B</a:t>
                      </a: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 in Medicare payments — 2.7x the next DRG — driven by volume, not markup.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00161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Geography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Nevada, Florida, Colorado, New Jersey and Texas are consistently the highest-markup states across every method used (peer outliers, fixed-DRG comparison, state aggregation).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86406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Rurality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A secondary factor — markup varies narrowly (5.6x–6.9x) by RUCA category, much less than the spread seen between states.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427861"/>
                  </a:ext>
                </a:extLst>
              </a:tr>
              <a:tr h="512774"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Provider concentration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200" font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The most extreme hospital-level markups cluster in a small number of New Jersey systems (Capital Health, </a:t>
                      </a:r>
                      <a:r>
                        <a:rPr lang="en-IN" sz="1400" dirty="0" err="1">
                          <a:solidFill>
                            <a:schemeClr val="bg1"/>
                          </a:solidFill>
                          <a:effectLst/>
                        </a:rPr>
                        <a:t>Carepoint</a:t>
                      </a: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 Health) and HCA-affiliated Florida hospitals — a system-level, not random, pattern.</a:t>
                      </a:r>
                    </a:p>
                  </a:txBody>
                  <a:tcPr marL="79841" marR="79841" marT="39921" marB="399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25385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60BB694-1544-D3C3-5B1F-1A9676413EFE}"/>
              </a:ext>
            </a:extLst>
          </p:cNvPr>
          <p:cNvSpPr txBox="1"/>
          <p:nvPr/>
        </p:nvSpPr>
        <p:spPr>
          <a:xfrm>
            <a:off x="242596" y="65314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Google Sans Text"/>
              </a:rPr>
              <a:t>Executive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90C1A1-8C78-6A4D-6D18-FA6551FEB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41" y="1983081"/>
            <a:ext cx="11587239" cy="3820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A4DDB8-F9B2-EA90-DAD2-A49F51609C90}"/>
              </a:ext>
            </a:extLst>
          </p:cNvPr>
          <p:cNvSpPr txBox="1"/>
          <p:nvPr/>
        </p:nvSpPr>
        <p:spPr>
          <a:xfrm>
            <a:off x="660141" y="777361"/>
            <a:ext cx="59272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PowerBi</a:t>
            </a:r>
            <a:r>
              <a:rPr lang="en-US" sz="3000" b="1" dirty="0">
                <a:solidFill>
                  <a:srgbClr val="1B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report Snippet</a:t>
            </a:r>
            <a:endParaRPr lang="en-IN" sz="3200" dirty="0"/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25396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code, and charts available on </a:t>
            </a:r>
            <a:r>
              <a:rPr lang="en-US" sz="1500" dirty="0" err="1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IN" sz="1600" b="1" dirty="0">
                <a:solidFill>
                  <a:schemeClr val="bg1"/>
                </a:solidFill>
              </a:rPr>
              <a:t> https://github.com/nandita96</a:t>
            </a:r>
            <a:r>
              <a:rPr lang="en-US" sz="1500" dirty="0">
                <a:solidFill>
                  <a:srgbClr val="B8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1080</Words>
  <Application>Microsoft Office PowerPoint</Application>
  <PresentationFormat>Widescreen</PresentationFormat>
  <Paragraphs>122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Georgia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sushmitashar96@outlook.com</cp:lastModifiedBy>
  <cp:revision>16</cp:revision>
  <dcterms:created xsi:type="dcterms:W3CDTF">2026-08-09T23:44:29Z</dcterms:created>
  <dcterms:modified xsi:type="dcterms:W3CDTF">2026-08-11T09:13:32Z</dcterms:modified>
</cp:coreProperties>
</file>