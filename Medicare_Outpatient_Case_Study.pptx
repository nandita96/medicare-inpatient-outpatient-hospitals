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2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167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bill in the city than in a small town. </a:t>
            </a: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8C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Outpatient Hospitals</a:t>
            </a:r>
            <a:endParaRPr lang="en-US" sz="4000" dirty="0">
              <a:solidFill>
                <a:srgbClr val="E58C09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Case Study of Hospital Charges, Medicare Payments &amp; Billing Variation (CY 2023)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01168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783EF-DD79-6B65-4548-027A9E4A99B0}"/>
              </a:ext>
            </a:extLst>
          </p:cNvPr>
          <p:cNvSpPr txBox="1"/>
          <p:nvPr/>
        </p:nvSpPr>
        <p:spPr>
          <a:xfrm>
            <a:off x="794968" y="5208954"/>
            <a:ext cx="389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 : Nandita Sharma</a:t>
            </a:r>
          </a:p>
          <a:p>
            <a:r>
              <a:rPr lang="en-IN" b="1" dirty="0" err="1">
                <a:solidFill>
                  <a:schemeClr val="bg1"/>
                </a:solidFill>
              </a:rPr>
              <a:t>Github</a:t>
            </a:r>
            <a:r>
              <a:rPr lang="en-IN" b="1" dirty="0">
                <a:solidFill>
                  <a:schemeClr val="bg1"/>
                </a:solidFill>
              </a:rPr>
              <a:t>: https://github.com/nandita96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b="1" kern="0" spc="200" dirty="0">
              <a:solidFill>
                <a:srgbClr val="F2A900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cs typeface="Arial" pitchFamily="34" charset="-120"/>
              </a:rPr>
              <a:t>WHAT WE'LL COVER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Questions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5185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big is the gap between what hospitals bill and what Medicare actually pays?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671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procedures (APCs) drive the most national spending?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25496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8254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billing behavior vary meaningfully by state?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83864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4838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rural hospitals charge and get paid differently than urban hospitals?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42232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1422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charges are true outliers — and which are real, explainable extremes?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extra does Medicare pay for unusually costly "outlier" cases?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58968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0B3D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5896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4589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concentrated is spending among a small number of large hospitals?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Working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116,799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(provider x Comprehensive APC)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hospitals, 50 states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APC procedure groups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0" y="16916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row means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= one hospital's average billing &amp; payment stats for one Comprehensive APC (bundled procedure group) in 2023: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beneficiaries seen, services billed, average submitted charge, average Medicare-allowed amount, average Medicare payment, and outlier payment activity.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the Data &amp; Handling Outliers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62073"/>
            <a:ext cx="5425442" cy="2909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Missing data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Clean currency columns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 Check shape /datatype of the data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Data errors-&gt; negatives, zeros, impossible values, duplicate keys 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distribution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Outliers using IQR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15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RUCA Classification (Recoding)</a:t>
            </a:r>
          </a:p>
          <a:p>
            <a:pPr lvl="1"/>
            <a:r>
              <a:rPr lang="en-IN" sz="1200" b="1" dirty="0"/>
              <a:t>Urban/Metro</a:t>
            </a:r>
            <a:r>
              <a:rPr lang="en-IN" sz="1200" dirty="0"/>
              <a:t>→ Urbanized areas ≥50,000</a:t>
            </a:r>
            <a:br>
              <a:rPr lang="en-IN" sz="1200" dirty="0"/>
            </a:br>
            <a:r>
              <a:rPr lang="en-IN" sz="1200" b="1" dirty="0"/>
              <a:t>Micropolitan</a:t>
            </a:r>
            <a:r>
              <a:rPr lang="en-IN" sz="1200" dirty="0"/>
              <a:t> → Urban clusters 10,000–49,999</a:t>
            </a:r>
            <a:br>
              <a:rPr lang="en-IN" sz="1200" dirty="0"/>
            </a:br>
            <a:r>
              <a:rPr lang="en-IN" sz="1200" b="1" dirty="0"/>
              <a:t>Small Town / Rural</a:t>
            </a:r>
            <a:r>
              <a:rPr lang="en-IN" sz="1200" dirty="0"/>
              <a:t> → Urban clusters &lt;10,000 + rural areas</a:t>
            </a:r>
          </a:p>
          <a:p>
            <a:pPr lvl="1"/>
            <a:endParaRPr lang="en-IN" sz="1200" dirty="0"/>
          </a:p>
          <a:p>
            <a:r>
              <a:rPr lang="en-IN" sz="1200" b="1" dirty="0"/>
              <a:t>Benefit:</a:t>
            </a:r>
            <a:r>
              <a:rPr lang="en-IN" sz="1200" dirty="0"/>
              <a:t> Reduces multiple detailed commuting classifications into three meaningful groups, making the data easier to visualize, compare, and interpret.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endParaRPr lang="en-IN" sz="1500" b="1" dirty="0">
              <a:solidFill>
                <a:srgbClr val="0B3D5C"/>
              </a:solidFill>
              <a:latin typeface="Arial" pitchFamily="34" charset="0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5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5262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37673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46360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B16D2516-6A0E-3832-B8D9-A4DFF615F54B}"/>
              </a:ext>
            </a:extLst>
          </p:cNvPr>
          <p:cNvSpPr/>
          <p:nvPr/>
        </p:nvSpPr>
        <p:spPr>
          <a:xfrm>
            <a:off x="289559" y="2797565"/>
            <a:ext cx="3703569" cy="848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6.1x</a:t>
            </a:r>
            <a:endParaRPr lang="en-US" sz="8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4AE9ED0-E556-C7C8-D8FD-DF85B8B58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734" y="1716273"/>
            <a:ext cx="5886708" cy="3916431"/>
          </a:xfrm>
          <a:prstGeom prst="rect">
            <a:avLst/>
          </a:prstGeom>
        </p:spPr>
      </p:pic>
      <p:sp>
        <p:nvSpPr>
          <p:cNvPr id="28" name="Shape 2">
            <a:extLst>
              <a:ext uri="{FF2B5EF4-FFF2-40B4-BE49-F238E27FC236}">
                <a16:creationId xmlns:a16="http://schemas.microsoft.com/office/drawing/2014/main" id="{78E9CA33-73BB-13DC-358D-0BFF530A6685}"/>
              </a:ext>
            </a:extLst>
          </p:cNvPr>
          <p:cNvSpPr/>
          <p:nvPr/>
        </p:nvSpPr>
        <p:spPr>
          <a:xfrm>
            <a:off x="1391295" y="1581912"/>
            <a:ext cx="3900655" cy="4224528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A19EF95A-1591-3C59-940B-E57214AB2DE0}"/>
              </a:ext>
            </a:extLst>
          </p:cNvPr>
          <p:cNvSpPr/>
          <p:nvPr/>
        </p:nvSpPr>
        <p:spPr>
          <a:xfrm>
            <a:off x="1318143" y="2066170"/>
            <a:ext cx="3766272" cy="1075936"/>
          </a:xfrm>
          <a:prstGeom prst="rect">
            <a:avLst/>
          </a:prstGeom>
          <a:noFill/>
          <a:ln/>
        </p:spPr>
        <p:txBody>
          <a:bodyPr wrap="square"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ctr">
              <a:buNone/>
            </a:pPr>
            <a:r>
              <a:rPr lang="en-US" sz="6000" b="1" dirty="0">
                <a:ln/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6.1x</a:t>
            </a:r>
            <a:endParaRPr lang="en-US" sz="6000" b="1" dirty="0">
              <a:ln/>
              <a:solidFill>
                <a:schemeClr val="bg1"/>
              </a:solidFill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4333DC50-113E-BEFB-698E-6022A4596103}"/>
              </a:ext>
            </a:extLst>
          </p:cNvPr>
          <p:cNvSpPr/>
          <p:nvPr/>
        </p:nvSpPr>
        <p:spPr>
          <a:xfrm>
            <a:off x="1318143" y="3483490"/>
            <a:ext cx="3766272" cy="268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MARKUP</a:t>
            </a:r>
            <a:endParaRPr lang="en-US" sz="15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EEE98B39-3008-5026-9701-B1C948BAEEF2}"/>
              </a:ext>
            </a:extLst>
          </p:cNvPr>
          <p:cNvSpPr/>
          <p:nvPr/>
        </p:nvSpPr>
        <p:spPr>
          <a:xfrm>
            <a:off x="1683903" y="4032130"/>
            <a:ext cx="3205338" cy="1277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bill about six times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Medicare ends up paying.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typo — it's the middle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pack, not a rare outlier.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DFB758-D716-9D2C-9C4D-874570B08A27}"/>
              </a:ext>
            </a:extLst>
          </p:cNvPr>
          <p:cNvSpPr txBox="1"/>
          <p:nvPr/>
        </p:nvSpPr>
        <p:spPr>
          <a:xfrm>
            <a:off x="8001787" y="1239479"/>
            <a:ext cx="3900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rebuchet MS" panose="020B0603020202020204" pitchFamily="34" charset="0"/>
              </a:rPr>
              <a:t>Hospital bills vs what </a:t>
            </a:r>
            <a:r>
              <a:rPr lang="en-IN" sz="1600" b="1" dirty="0" err="1">
                <a:latin typeface="Trebuchet MS" panose="020B0603020202020204" pitchFamily="34" charset="0"/>
              </a:rPr>
              <a:t>medicare</a:t>
            </a:r>
            <a:r>
              <a:rPr lang="en-IN" sz="1600" b="1" dirty="0">
                <a:latin typeface="Trebuchet MS" panose="020B0603020202020204" pitchFamily="34" charset="0"/>
              </a:rPr>
              <a:t> actually pay?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600" b="1" dirty="0">
              <a:solidFill>
                <a:srgbClr val="0B3D5C"/>
              </a:solidFill>
              <a:latin typeface="Georgia" pitchFamily="34" charset="0"/>
            </a:endParaRPr>
          </a:p>
          <a:p>
            <a:r>
              <a:rPr lang="en-US" sz="2600" b="1" dirty="0">
                <a:solidFill>
                  <a:srgbClr val="0B3D5C"/>
                </a:solidFill>
                <a:latin typeface="Georgia" pitchFamily="34" charset="0"/>
              </a:rPr>
              <a:t>Where The Money Goes</a:t>
            </a:r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$4.7B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spend on the #1 APC group alone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 Musculoskeletal Procedures alone: ~$4.7B in estimated Medicare spend.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673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Electrophysiologic and Observation services round out the top 3.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6360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0" descr="charts/02_top_apc_sp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</a:t>
            </a:r>
            <a:r>
              <a:rPr lang="en-US" sz="2600" b="1" dirty="0" err="1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</a:t>
            </a: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varies by </a:t>
            </a:r>
            <a:r>
              <a:rPr lang="en-US" sz="2600" b="1" i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r>
              <a:rPr lang="en-US" sz="2600" b="1" i="1" dirty="0">
                <a:solidFill>
                  <a:srgbClr val="0B3D5C"/>
                </a:solidFill>
                <a:latin typeface="Georgia" pitchFamily="34" charset="0"/>
              </a:rPr>
              <a:t>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~4x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highest- and lowest-markup states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and Florida hospitals show the highest median markups (10–12x).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673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and Rhode Island sit near 3x — roughly a third of NV/FL.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2" name="Image 0" descr="charts/03_state_mark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Hospitals Bill (and Get Paid) More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56291" y="3090905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489594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573645" y="401159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0" name="Image 0" descr="charts/04_rural_urb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C493F-0855-6F86-664C-D03857059536}"/>
              </a:ext>
            </a:extLst>
          </p:cNvPr>
          <p:cNvSpPr txBox="1"/>
          <p:nvPr/>
        </p:nvSpPr>
        <p:spPr>
          <a:xfrm>
            <a:off x="610221" y="1048282"/>
            <a:ext cx="8188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hospitals bill almost double rural ones — but Medicare barely notices the difference.</a:t>
            </a:r>
            <a:endParaRPr lang="en-US" sz="1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FC187A33-DB77-99EA-3784-91AB43706A58}"/>
              </a:ext>
            </a:extLst>
          </p:cNvPr>
          <p:cNvSpPr/>
          <p:nvPr/>
        </p:nvSpPr>
        <p:spPr>
          <a:xfrm>
            <a:off x="762031" y="2971567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Urban/metro hospitals average $40,413 submitted charges vs. $22,916 for small-town/rural.</a:t>
            </a:r>
            <a:endParaRPr lang="en-US" sz="12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4F87ADB-D962-A3A2-A16B-389D6F7D72B4}"/>
              </a:ext>
            </a:extLst>
          </p:cNvPr>
          <p:cNvSpPr/>
          <p:nvPr/>
        </p:nvSpPr>
        <p:spPr>
          <a:xfrm>
            <a:off x="836676" y="3840247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Medicare's allowed amount also scales with setting ($6,104 urban vs. $4,026 rural) — reflecting real cost-of-care differences.</a:t>
            </a:r>
            <a:endParaRPr lang="en-US" sz="12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BD125C5-A258-7931-93AC-4AC5C9012AFA}"/>
              </a:ext>
            </a:extLst>
          </p:cNvPr>
          <p:cNvSpPr/>
          <p:nvPr/>
        </p:nvSpPr>
        <p:spPr>
          <a:xfrm>
            <a:off x="667512" y="23164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markup ratio (6.3x) is modestly higher than rural (5.1x).</a:t>
            </a:r>
            <a:endParaRPr lang="en-US" sz="12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FE3EA08-A5D9-1AF3-22CE-70E65843E726}"/>
              </a:ext>
            </a:extLst>
          </p:cNvPr>
          <p:cNvSpPr/>
          <p:nvPr/>
        </p:nvSpPr>
        <p:spPr>
          <a:xfrm>
            <a:off x="762031" y="1617549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B4244E2-A39F-B866-25FE-A852470A15CC}"/>
              </a:ext>
            </a:extLst>
          </p:cNvPr>
          <p:cNvSpPr/>
          <p:nvPr/>
        </p:nvSpPr>
        <p:spPr>
          <a:xfrm>
            <a:off x="1674892" y="1591977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Markups Are Real, Not Data Errors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5.7%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records sit above the statistical outlier fence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right-skewed distribution: most records cluster 4–9x, with a long tail past 20x.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0695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5151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verified: no duplicate keys, no negative/zero values — the tail is genuine hospital pricing behavior worth flagging to stakeholders, not deleting.</a:t>
            </a:r>
            <a:endParaRPr lang="en-US" sz="1250" dirty="0"/>
          </a:p>
        </p:txBody>
      </p:sp>
      <p:pic>
        <p:nvPicPr>
          <p:cNvPr id="12" name="Image 0" descr="charts/05_markup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vs Payment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099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High-volume, lower-payment services (e.g., Observation) sit bottom-right.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Low-volume, high-payment services (e.g., ICD implants) sit top-left.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44728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total estimated spend — showing which APCs matter most on a cost-times-volume basis.</a:t>
            </a:r>
            <a:endParaRPr lang="en-US" sz="1250" dirty="0"/>
          </a:p>
        </p:txBody>
      </p:sp>
      <p:pic>
        <p:nvPicPr>
          <p:cNvPr id="10" name="Image 0" descr="charts/08_apc_bubb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Payments Cluster in Complex Procedures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7099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Endovascular procedures trigger the most outlier-payment services (~10,700).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Therapy has the highest average outlier payment per service (~$1,672).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44728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CMS's own cost-based outlier payments — a safety valve for unusually expensive individual cases, separate from the charge/markup story.</a:t>
            </a:r>
            <a:endParaRPr lang="en-US" sz="1250" dirty="0"/>
          </a:p>
        </p:txBody>
      </p:sp>
      <p:pic>
        <p:nvPicPr>
          <p:cNvPr id="10" name="Image 0" descr="charts/06_outlier_servic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Is Concentrated in Large Academic Centers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12.6%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spend from just the top 50 hospitals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 Langone, NewYork-Presbyterian, and Mayo Clinic Rochester top the list.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673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50 hospitals (1.6% of all hospitals) account for 12.6% of estimated in-scope Medicare spend.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6360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is real but not extreme — Medicare outpatient spend is fairly distributed across thousands of hospitals.</a:t>
            </a:r>
            <a:endParaRPr lang="en-US" sz="1250" dirty="0"/>
          </a:p>
        </p:txBody>
      </p:sp>
      <p:pic>
        <p:nvPicPr>
          <p:cNvPr id="12" name="Image 0" descr="charts/07_top_hospita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Peer-Group Method: Outliers vs. Same-Procedure Hospitals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2.0%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records are outliers vs. same-procedure peers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89864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within each APC (procedure group), flag hospitals whose submitted charge is &gt;3 standard deviations from the peer mean for that SAME procedure — an apples-to-apples comparison.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7673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1,271 provider-APC records (2.0%) are peer outliers.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2" name="Image 0" descr="charts/09_peer_outli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Outliers Cluster in Urban Hospitals &amp; a Few States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Florida, California, and Texas together account for over half of all outlier records.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44728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the state-markup pattern from Insight 3 — the same states with high average markups also produce the most extreme individual outliers.</a:t>
            </a:r>
            <a:endParaRPr lang="en-US" sz="1250" dirty="0"/>
          </a:p>
        </p:txBody>
      </p:sp>
      <p:pic>
        <p:nvPicPr>
          <p:cNvPr id="10" name="Image 0" descr="charts/10_outlier_sta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417320"/>
            <a:ext cx="6949440" cy="4937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Predicts Cost?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trained a Random Forest on procedure type, state, rural/urban code, service volume, and beneficiary count to rank what predicts (A) the raw charge amount, and (B) the markup ratio — pricing behavior net of what procedure is being done.</a:t>
            </a:r>
            <a:endParaRPr lang="en-US" sz="1300" dirty="0"/>
          </a:p>
        </p:txBody>
      </p:sp>
      <p:pic>
        <p:nvPicPr>
          <p:cNvPr id="5" name="Image 0" descr="charts/11_predicto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48840"/>
            <a:ext cx="110642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the procedure itself explains most of the raw dollar amount (as expected) — but once that's controlled for, STATE is the single biggest predictor of markup behavior (57%), bigger than the procedure type itself. Local market/regulatory environment drives pricing more than clinical complexity does.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Outpatient Hospitals Case Study — CY 2023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1">
            <a:extLst>
              <a:ext uri="{FF2B5EF4-FFF2-40B4-BE49-F238E27FC236}">
                <a16:creationId xmlns:a16="http://schemas.microsoft.com/office/drawing/2014/main" id="{3C0D9584-9289-4868-BE92-FDC762AAB422}"/>
              </a:ext>
            </a:extLst>
          </p:cNvPr>
          <p:cNvSpPr/>
          <p:nvPr/>
        </p:nvSpPr>
        <p:spPr>
          <a:xfrm>
            <a:off x="77724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 Away</a:t>
            </a:r>
            <a:endParaRPr lang="en-US" sz="2500" dirty="0"/>
          </a:p>
        </p:txBody>
      </p:sp>
      <p:sp>
        <p:nvSpPr>
          <p:cNvPr id="58" name="Shape 2">
            <a:extLst>
              <a:ext uri="{FF2B5EF4-FFF2-40B4-BE49-F238E27FC236}">
                <a16:creationId xmlns:a16="http://schemas.microsoft.com/office/drawing/2014/main" id="{66B6C05F-9B7B-7AB9-8537-582C340989D7}"/>
              </a:ext>
            </a:extLst>
          </p:cNvPr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9D5BC54F-1544-AE76-0202-F0555DAA580D}"/>
              </a:ext>
            </a:extLst>
          </p:cNvPr>
          <p:cNvSpPr/>
          <p:nvPr/>
        </p:nvSpPr>
        <p:spPr>
          <a:xfrm>
            <a:off x="82296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6.1x</a:t>
            </a:r>
            <a:endParaRPr lang="en-US" sz="1600" dirty="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818DAE5C-CF99-CFE9-E5B2-ED1882CC1495}"/>
              </a:ext>
            </a:extLst>
          </p:cNvPr>
          <p:cNvSpPr/>
          <p:nvPr/>
        </p:nvSpPr>
        <p:spPr>
          <a:xfrm>
            <a:off x="1874520" y="173736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</a:t>
            </a:r>
            <a:r>
              <a:rPr lang="en-US" sz="160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6x </a:t>
            </a: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what Medicare pays — for the typical outpatient service.</a:t>
            </a:r>
            <a:endParaRPr lang="en-US" sz="1600" dirty="0"/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67B405B2-0875-B5A3-3E82-EDC3AB4CCC53}"/>
              </a:ext>
            </a:extLst>
          </p:cNvPr>
          <p:cNvSpPr/>
          <p:nvPr/>
        </p:nvSpPr>
        <p:spPr>
          <a:xfrm>
            <a:off x="822960" y="2743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0C189EFA-63DF-4AC9-30FE-3EF174BBDA56}"/>
              </a:ext>
            </a:extLst>
          </p:cNvPr>
          <p:cNvSpPr/>
          <p:nvPr/>
        </p:nvSpPr>
        <p:spPr>
          <a:xfrm>
            <a:off x="822960" y="2743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160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9182AF61-ED3F-FFCD-7EE6-9C46378ECC44}"/>
              </a:ext>
            </a:extLst>
          </p:cNvPr>
          <p:cNvSpPr/>
          <p:nvPr/>
        </p:nvSpPr>
        <p:spPr>
          <a:xfrm>
            <a:off x="1874520" y="2788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aggressive states (NV, FL) mark up nearly 4x more than the gentlest (MA, RI).</a:t>
            </a:r>
            <a:endParaRPr lang="en-US" sz="1600" dirty="0"/>
          </a:p>
        </p:txBody>
      </p:sp>
      <p:sp>
        <p:nvSpPr>
          <p:cNvPr id="70" name="Shape 8">
            <a:extLst>
              <a:ext uri="{FF2B5EF4-FFF2-40B4-BE49-F238E27FC236}">
                <a16:creationId xmlns:a16="http://schemas.microsoft.com/office/drawing/2014/main" id="{63AE5FF1-1B32-95E3-0E1C-2C6F229B3D1F}"/>
              </a:ext>
            </a:extLst>
          </p:cNvPr>
          <p:cNvSpPr/>
          <p:nvPr/>
        </p:nvSpPr>
        <p:spPr>
          <a:xfrm>
            <a:off x="822960" y="37947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6190EE8C-C3CF-2143-F475-C1C60ADF5EAA}"/>
              </a:ext>
            </a:extLst>
          </p:cNvPr>
          <p:cNvSpPr/>
          <p:nvPr/>
        </p:nvSpPr>
        <p:spPr>
          <a:xfrm>
            <a:off x="82296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16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71E0A45B-F710-946C-0F65-672DEC609E09}"/>
              </a:ext>
            </a:extLst>
          </p:cNvPr>
          <p:cNvSpPr/>
          <p:nvPr/>
        </p:nvSpPr>
        <p:spPr>
          <a:xfrm>
            <a:off x="1874520" y="384048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hospitals bill about double what rural ones do — Medicare's payment barely moves.</a:t>
            </a:r>
            <a:endParaRPr lang="en-US" sz="1600" dirty="0"/>
          </a:p>
        </p:txBody>
      </p:sp>
      <p:sp>
        <p:nvSpPr>
          <p:cNvPr id="76" name="Shape 11">
            <a:extLst>
              <a:ext uri="{FF2B5EF4-FFF2-40B4-BE49-F238E27FC236}">
                <a16:creationId xmlns:a16="http://schemas.microsoft.com/office/drawing/2014/main" id="{AFC409AD-1C66-ED5F-B53C-EC0C9F696AE5}"/>
              </a:ext>
            </a:extLst>
          </p:cNvPr>
          <p:cNvSpPr/>
          <p:nvPr/>
        </p:nvSpPr>
        <p:spPr>
          <a:xfrm>
            <a:off x="822960" y="48463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0EFB15B-F7D0-6E99-3352-5FCB143DA0F1}"/>
              </a:ext>
            </a:extLst>
          </p:cNvPr>
          <p:cNvSpPr/>
          <p:nvPr/>
        </p:nvSpPr>
        <p:spPr>
          <a:xfrm>
            <a:off x="822960" y="4846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160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F8D93C69-3C45-45E6-1D25-CE75D8B8DAC3}"/>
              </a:ext>
            </a:extLst>
          </p:cNvPr>
          <p:cNvSpPr/>
          <p:nvPr/>
        </p:nvSpPr>
        <p:spPr>
          <a:xfrm>
            <a:off x="1874520" y="48920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hospital's state predicts its markup better than the procedure itself does.</a:t>
            </a:r>
            <a:endParaRPr lang="en-US" sz="1600" dirty="0"/>
          </a:p>
        </p:txBody>
      </p:sp>
      <p:sp>
        <p:nvSpPr>
          <p:cNvPr id="82" name="Text 14">
            <a:extLst>
              <a:ext uri="{FF2B5EF4-FFF2-40B4-BE49-F238E27FC236}">
                <a16:creationId xmlns:a16="http://schemas.microsoft.com/office/drawing/2014/main" id="{00CF7AA9-9B10-1BAB-691E-C826764DA107}"/>
              </a:ext>
            </a:extLst>
          </p:cNvPr>
          <p:cNvSpPr/>
          <p:nvPr/>
        </p:nvSpPr>
        <p:spPr>
          <a:xfrm>
            <a:off x="777240" y="5989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FB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tag says more about a hospital's zip code than about your diagnosis.</a:t>
            </a:r>
            <a:endParaRPr lang="en-US" sz="1700" dirty="0"/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564E6734-DF39-A8A0-92BA-B7AABF607FBB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A663D-EAFE-01BB-92A1-54154C7AF5A2}"/>
              </a:ext>
            </a:extLst>
          </p:cNvPr>
          <p:cNvSpPr txBox="1"/>
          <p:nvPr/>
        </p:nvSpPr>
        <p:spPr>
          <a:xfrm>
            <a:off x="648929" y="28285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oogle Sans Text"/>
              </a:rPr>
              <a:t>Executive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Preparation: Approach &amp; Assumptions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Profiled shape, types, and missingness before touching values.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Converted currency-string columns ($ and commas) to numeric.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Diagnosed missingness against the methodology doc rather than assuming it was random.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Checked for structural errors (negatives, zeros, duplicate keys) before any statistical outlier work.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Built one clean analysis frame (rows with usable core metrics) instead of overwriting the raw file.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Statistical outliers (extreme markup ratios) are treated as real hospital behavior, not data errors, and are kept in all totals/averages.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"Cost" is analyzed at the average-per-APC level provided in the file, not per individual claim (the file doesn't include claim-level data).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Peer group = hospitals billing the identical APC code, controlling for procedure-mix differences.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246034-301F-1ED2-955B-373E37D54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8" y="1809135"/>
            <a:ext cx="11383327" cy="466884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75EBA31-03D3-AC55-F495-E58696E546B6}"/>
              </a:ext>
            </a:extLst>
          </p:cNvPr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dirty="0">
                <a:latin typeface="Georgia" panose="02040502050405020303" pitchFamily="18" charset="0"/>
              </a:rPr>
              <a:t>Power BI report snippet</a:t>
            </a:r>
            <a:endParaRPr lang="en-US" sz="2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9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1385</Words>
  <Application>Microsoft Office PowerPoint</Application>
  <PresentationFormat>Widescreen</PresentationFormat>
  <Paragraphs>184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Georgia</vt:lpstr>
      <vt:lpstr>Google Sans Text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sushmitashar96@outlook.com</cp:lastModifiedBy>
  <cp:revision>20</cp:revision>
  <dcterms:created xsi:type="dcterms:W3CDTF">2026-08-09T11:43:55Z</dcterms:created>
  <dcterms:modified xsi:type="dcterms:W3CDTF">2026-08-11T09:11:11Z</dcterms:modified>
</cp:coreProperties>
</file>